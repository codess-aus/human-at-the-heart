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950760" y="2017440"/>
            <a:ext cx="10290600" cy="1070280"/>
          </a:xfrm>
          <a:custGeom>
            <a:avLst/>
            <a:gdLst/>
            <a:ahLst/>
            <a:rect l="0" t="0" r="r" b="b"/>
            <a:pathLst>
              <a:path w="28585" h="2973">
                <a:moveTo>
                  <a:pt x="0" y="0"/>
                </a:moveTo>
                <a:lnTo>
                  <a:pt x="28585" y="0"/>
                </a:lnTo>
                <a:lnTo>
                  <a:pt x="28585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952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992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032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072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113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153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193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233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273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314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354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394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434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474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514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555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595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635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75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715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756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796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836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876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916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956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996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037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077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117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157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198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238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278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2318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358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399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439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2479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2519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559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599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639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680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720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2760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800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841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881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921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961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3001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3042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081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122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162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3202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242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282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323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363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403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443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483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524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564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604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644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3684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3724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3765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3805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845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885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925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3966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4006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46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086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126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167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207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247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287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327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367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408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448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488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4528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4568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609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649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4689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4729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769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809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850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890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930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4970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010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051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091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131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171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211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252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292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332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372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412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452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493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533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573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613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653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694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734080" y="2019240"/>
            <a:ext cx="41040" cy="1067040"/>
          </a:xfrm>
          <a:custGeom>
            <a:avLst/>
            <a:gdLst/>
            <a:ahLst/>
            <a:rect l="0" t="0" r="r" b="b"/>
            <a:pathLst>
              <a:path w="114" h="2964">
                <a:moveTo>
                  <a:pt x="0" y="0"/>
                </a:moveTo>
                <a:lnTo>
                  <a:pt x="0" y="2964"/>
                </a:lnTo>
                <a:lnTo>
                  <a:pt x="114" y="296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774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14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854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95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934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975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015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055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095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135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176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216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256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296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337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377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417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457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497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537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577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618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658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698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738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778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819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859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899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939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979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020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060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100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140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180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7220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261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301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341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7381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7421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462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7502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7542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582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622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662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703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7743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783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823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863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7904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944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984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8024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064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8105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8145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185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8225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8265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8305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346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8386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8426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8466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506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8547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587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8627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667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707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748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787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828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868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908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8948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989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9029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9069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9109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9149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9190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9230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9270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9310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9350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9390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9430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9471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9511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9551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9591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9631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9672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9712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9752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9792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9833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9873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9913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953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9993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0033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0073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0114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0154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0194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0234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0274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0315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0355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0395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435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0476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0515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0556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0596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0636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0676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716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0757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0797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837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877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0917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0958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0998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038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1078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1118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1158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1199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952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992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032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072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113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53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193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233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273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314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354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394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434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474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514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555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595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635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675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715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756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796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836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876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1916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956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996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037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077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117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157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198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238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278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318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358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399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439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479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519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559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599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639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680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720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760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800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841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881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921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961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3001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3042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3081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122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162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3202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3242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3282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3323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3363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3403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3443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3483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3524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3564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604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3644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3684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3724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3765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805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845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3885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3925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3966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4006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4046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4086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4126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167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207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4247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4287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327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4367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4408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4448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4488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528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568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609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649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4689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4729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4769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4809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4850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4890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930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4970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010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5051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5091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131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171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211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252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292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332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372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412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452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493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533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573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613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653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694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734080" y="2019240"/>
            <a:ext cx="41040" cy="1067040"/>
          </a:xfrm>
          <a:custGeom>
            <a:avLst/>
            <a:gdLst/>
            <a:ahLst/>
            <a:rect l="0" t="0" r="r" b="b"/>
            <a:pathLst>
              <a:path w="114" h="2964">
                <a:moveTo>
                  <a:pt x="0" y="0"/>
                </a:moveTo>
                <a:lnTo>
                  <a:pt x="0" y="2964"/>
                </a:lnTo>
                <a:lnTo>
                  <a:pt x="114" y="296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774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814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854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895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934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5975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015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055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095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135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176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216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256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296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337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377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417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6457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497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6537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6577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6618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658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698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738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778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819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859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899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6939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979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020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060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100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7140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7180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220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261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7301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341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7381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421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462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7502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7542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7582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622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7662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7703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7743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7783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7823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7863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79041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7944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7984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8024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8064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8105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8145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8185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8225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8265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8305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8346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8386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8426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8466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8506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85471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8587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8627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86677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8707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8748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8787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8828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88686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8908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8948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89892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9029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9069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9109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9149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91900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9230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9270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93106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93506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3909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9430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9471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95115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95515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95918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96318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96721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97124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97524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9792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98330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98730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99133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99532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9993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00339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00738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01142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015452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01944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02348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02747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03150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03554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03953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043568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47600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05159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05562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05962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6365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06768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07168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75716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79748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08374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8777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9177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95804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099836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10383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10786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111860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1158920" y="2019240"/>
            <a:ext cx="40680" cy="1067040"/>
          </a:xfrm>
          <a:custGeom>
            <a:avLst/>
            <a:gdLst/>
            <a:ahLst/>
            <a:rect l="0" t="0" r="r" b="b"/>
            <a:pathLst>
              <a:path w="113" h="2964">
                <a:moveTo>
                  <a:pt x="0" y="0"/>
                </a:moveTo>
                <a:lnTo>
                  <a:pt x="0" y="2964"/>
                </a:lnTo>
                <a:lnTo>
                  <a:pt x="113" y="29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1199240" y="2019240"/>
            <a:ext cx="40320" cy="1067040"/>
          </a:xfrm>
          <a:custGeom>
            <a:avLst/>
            <a:gdLst/>
            <a:ahLst/>
            <a:rect l="0" t="0" r="r" b="b"/>
            <a:pathLst>
              <a:path w="112" h="2964">
                <a:moveTo>
                  <a:pt x="0" y="0"/>
                </a:moveTo>
                <a:lnTo>
                  <a:pt x="0" y="2964"/>
                </a:lnTo>
                <a:lnTo>
                  <a:pt x="112" y="29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952560" y="1988280"/>
            <a:ext cx="6404400" cy="88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000" spc="-1" strike="noStrike">
                <a:solidFill>
                  <a:srgbClr val="000000"/>
                </a:solidFill>
                <a:latin typeface="DejaVuSans"/>
                <a:ea typeface="DejaVuSans"/>
              </a:rPr>
              <a:t>Trustworthy AI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952560" y="1371600"/>
            <a:ext cx="57369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A GITHUB + MICROSOFT PERSPECTIVE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52560" y="1988280"/>
            <a:ext cx="6404400" cy="88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000" spc="-1" strike="noStrike">
                <a:solidFill>
                  <a:srgbClr val="000000"/>
                </a:solidFill>
                <a:latin typeface="DejaVuSans"/>
                <a:ea typeface="DejaVuSans"/>
              </a:rPr>
              <a:t>Trustworthy AI</a:t>
            </a:r>
            <a:endParaRPr b="0" lang="en-US" sz="6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52560" y="3335400"/>
            <a:ext cx="1013364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Keeping humans at the heart of intelligent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952560" y="3859200"/>
            <a:ext cx="194544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systems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952560" y="5133960"/>
            <a:ext cx="48852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45 minutes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Master Chief Sparkle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952560" y="1810080"/>
            <a:ext cx="34801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THE MOMENT WE'RE IN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952560" y="2425320"/>
            <a:ext cx="561528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AI is in the loop.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952560" y="3554280"/>
            <a:ext cx="960948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The question is no longer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if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it assists us.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952560" y="4430880"/>
            <a:ext cx="749880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It's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how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it does so,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responsibly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952560" y="3166560"/>
            <a:ext cx="70934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solidFill>
                  <a:srgbClr val="59636e"/>
                </a:solidFill>
                <a:latin typeface="DejaVuSans"/>
                <a:ea typeface="DejaVuSans"/>
              </a:rPr>
              <a:t>Trust is the </a:t>
            </a:r>
            <a:r>
              <a:rPr b="1" lang="en-US" sz="3600" spc="-1" strike="noStrike">
                <a:solidFill>
                  <a:srgbClr val="a371f7"/>
                </a:solidFill>
                <a:latin typeface="DejaVuSans"/>
                <a:ea typeface="DejaVuSans"/>
              </a:rPr>
              <a:t>ultimate feature</a:t>
            </a:r>
            <a:r>
              <a:rPr b="0" lang="en-US" sz="3600" spc="-1" strike="noStrike">
                <a:solidFill>
                  <a:srgbClr val="59636e"/>
                </a:solidFill>
                <a:latin typeface="DejaVuSans"/>
                <a:ea typeface="DejaVu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952560" y="1552680"/>
            <a:ext cx="10296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TODAY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257120" y="382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952560" y="2177640"/>
            <a:ext cx="57049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What we'll cover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257120" y="4381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485720" y="3705480"/>
            <a:ext cx="38750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Human-in-the-Loop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design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257120" y="49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485720" y="4257720"/>
            <a:ext cx="38077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Principles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of trustworthy AI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485720" y="4819680"/>
            <a:ext cx="50209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Real-world practices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for shipping it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950760" y="3303720"/>
            <a:ext cx="10290600" cy="1420920"/>
          </a:xfrm>
          <a:custGeom>
            <a:avLst/>
            <a:gdLst/>
            <a:ahLst/>
            <a:rect l="0" t="0" r="r" b="b"/>
            <a:pathLst>
              <a:path w="28585" h="3947">
                <a:moveTo>
                  <a:pt x="0" y="0"/>
                </a:moveTo>
                <a:lnTo>
                  <a:pt x="28585" y="0"/>
                </a:lnTo>
                <a:lnTo>
                  <a:pt x="28585" y="3947"/>
                </a:lnTo>
                <a:lnTo>
                  <a:pt x="0" y="39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952560" y="3342600"/>
            <a:ext cx="994032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Human-in-the-Loop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952560" y="2139120"/>
            <a:ext cx="11847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50" spc="-1" strike="noStrike">
                <a:solidFill>
                  <a:srgbClr val="54aeff"/>
                </a:solidFill>
                <a:latin typeface="DejaVuSans"/>
                <a:ea typeface="DejaVuSans"/>
              </a:rPr>
              <a:t>PART ONE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952560" y="3342600"/>
            <a:ext cx="994032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Human-in-the-Loop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952560" y="1863000"/>
            <a:ext cx="56257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Models suggest.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952560" y="2949120"/>
            <a:ext cx="55008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Humans decide.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952560" y="4648320"/>
            <a:ext cx="85456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COPILOT WAS BUILT ON THIS PRINCIPLE FROM DAY ONE.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952560" y="1810080"/>
            <a:ext cx="40471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WHY OVERSIGHT MATTERS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952560" y="2434680"/>
            <a:ext cx="609948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Bias lives in </a:t>
            </a:r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data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952560" y="3511080"/>
            <a:ext cx="75949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Accountability lives in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952560" y="4177800"/>
            <a:ext cx="25578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people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952560" y="1552680"/>
            <a:ext cx="3568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THE LOOP, IN PRACTICE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257120" y="382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952560" y="2177640"/>
            <a:ext cx="63162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Three checkpoints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1257120" y="4381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1485720" y="3705480"/>
            <a:ext cx="73508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Review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can the human understand the suggestion?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1257120" y="49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1485720" y="4257720"/>
            <a:ext cx="68007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Approve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can the human accept, edit, or reject?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1485720" y="4819680"/>
            <a:ext cx="58590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Override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can the human always say no?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952560" y="1552680"/>
            <a:ext cx="29343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COPILOT IN ACTION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1257120" y="382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952560" y="2177640"/>
            <a:ext cx="947556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Suggestions, not decisions.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1257120" y="4381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1485720" y="3705480"/>
            <a:ext cx="47664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Inline diffs you can read line by line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1257120" y="49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1485720" y="4257720"/>
            <a:ext cx="48654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Edits you accept, change, or discard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1485720" y="4819680"/>
            <a:ext cx="5377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Agent actions gated by human approval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11808000" y="6426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9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950760" y="3303720"/>
            <a:ext cx="10290600" cy="1420920"/>
          </a:xfrm>
          <a:custGeom>
            <a:avLst/>
            <a:gdLst/>
            <a:ahLst/>
            <a:rect l="0" t="0" r="r" b="b"/>
            <a:pathLst>
              <a:path w="28585" h="3947">
                <a:moveTo>
                  <a:pt x="0" y="0"/>
                </a:moveTo>
                <a:lnTo>
                  <a:pt x="28585" y="0"/>
                </a:lnTo>
                <a:lnTo>
                  <a:pt x="28585" y="3947"/>
                </a:lnTo>
                <a:lnTo>
                  <a:pt x="0" y="39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952560" y="3342600"/>
            <a:ext cx="507564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Principles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952560" y="2139120"/>
            <a:ext cx="12380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50" spc="-1" strike="noStrike">
                <a:solidFill>
                  <a:srgbClr val="54aeff"/>
                </a:solidFill>
                <a:latin typeface="DejaVuSans"/>
                <a:ea typeface="DejaVuSans"/>
              </a:rPr>
              <a:t>PART TWO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952560" y="3342600"/>
            <a:ext cx="507564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Principles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10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1257120" y="3495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952560" y="1844280"/>
            <a:ext cx="77641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Three non-negotiables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1257120" y="4057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1485720" y="3372120"/>
            <a:ext cx="20458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Explainability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1257120" y="4619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1485720" y="3934080"/>
            <a:ext cx="15170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Reliability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1485720" y="4496040"/>
            <a:ext cx="1547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Inclusivity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11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952560" y="1257480"/>
            <a:ext cx="1844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PRINCIPLE 1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952560" y="1872720"/>
            <a:ext cx="46717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Explainability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952560" y="3583080"/>
            <a:ext cx="838440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If a developer can't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understand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the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952560" y="4106880"/>
            <a:ext cx="174420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output,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952560" y="4983120"/>
            <a:ext cx="431064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they can't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trust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it.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12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952560" y="1514520"/>
            <a:ext cx="1844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PRINCIPLE 2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952560" y="2139480"/>
            <a:ext cx="34632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Reliability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952560" y="3840120"/>
            <a:ext cx="759924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Consistent. Predictable.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Tested.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952560" y="4726080"/>
            <a:ext cx="904104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Same input, same quality, every time.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13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952560" y="1514520"/>
            <a:ext cx="1844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PRINCIPLE 3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952560" y="2139480"/>
            <a:ext cx="35334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Inclusivity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952560" y="3840120"/>
            <a:ext cx="730260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Built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with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the people it serves,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952560" y="4726080"/>
            <a:ext cx="417528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not just </a:t>
            </a:r>
            <a:r>
              <a:rPr b="1" lang="en-US" sz="3300" spc="-1" strike="noStrike">
                <a:solidFill>
                  <a:srgbClr val="4488cc"/>
                </a:solidFill>
                <a:latin typeface="DejaVuSans"/>
                <a:ea typeface="DejaVuSans"/>
              </a:rPr>
              <a:t>for</a:t>
            </a:r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 them.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14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952560" y="1219320"/>
            <a:ext cx="60069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THE STANDARD BEHIND THE STANDARD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952560" y="1844280"/>
            <a:ext cx="90702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Microsoft's Responsible AI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1257120" y="4162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952560" y="2511000"/>
            <a:ext cx="316008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Standard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125712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1485720" y="4038840"/>
            <a:ext cx="4607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Fairness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Reliability &amp; Safety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1257120" y="52765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1485720" y="4591080"/>
            <a:ext cx="52203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Privacy &amp; Security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Inclusiveness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1485720" y="5153040"/>
            <a:ext cx="46350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Transparency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 · 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Accountability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15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952560" y="1276560"/>
            <a:ext cx="36856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HOW GITHUB APPLIES IT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125712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952560" y="1891800"/>
            <a:ext cx="88506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Trust, shipped as product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1257120" y="4105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1485720" y="3419640"/>
            <a:ext cx="71146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Code referencing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for transparency on training data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1257120" y="4667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1485720" y="3981600"/>
            <a:ext cx="46612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Content exclusions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for IP control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1257120" y="5219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1485720" y="4543560"/>
            <a:ext cx="39434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Audit logs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for accountability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1485720" y="5096160"/>
            <a:ext cx="46425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Policy controls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for the enterprise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16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950760" y="3303720"/>
            <a:ext cx="10290600" cy="1420920"/>
          </a:xfrm>
          <a:custGeom>
            <a:avLst/>
            <a:gdLst/>
            <a:ahLst/>
            <a:rect l="0" t="0" r="r" b="b"/>
            <a:pathLst>
              <a:path w="28585" h="3947">
                <a:moveTo>
                  <a:pt x="0" y="0"/>
                </a:moveTo>
                <a:lnTo>
                  <a:pt x="28585" y="0"/>
                </a:lnTo>
                <a:lnTo>
                  <a:pt x="28585" y="3947"/>
                </a:lnTo>
                <a:lnTo>
                  <a:pt x="0" y="39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952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992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1032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1072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b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1113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1153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1193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b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1233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1273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1314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b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1354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1394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1434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c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1474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1514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c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1555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1595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1635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6c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1675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1715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1756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6c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1796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1836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1876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6c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1916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1956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1996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6c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2037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2077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2117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2157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2198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6c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2238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2278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7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2318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2358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6d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2399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2439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2479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6d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2519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2559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2599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6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2639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2680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2720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d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2760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2800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2841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2881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2921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2961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3001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3042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3081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3122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3162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6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3202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3242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3282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6e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3323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3363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3403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3443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3483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3524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3564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3604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3644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6e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3684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3724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3765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6e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3805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3845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3885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3925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3966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4006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6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4046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4086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4126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4167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4207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46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4247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4287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4327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6f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4367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4408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4448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6f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4488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4528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4568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6f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4609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d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4649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4689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4729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b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4769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6f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4809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4850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4890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4930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70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4970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5010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5051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0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5091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5131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5171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0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5211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5252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5292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7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5332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5372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5412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5452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5493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5533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5573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5613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70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5653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a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5694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5734080" y="3305160"/>
            <a:ext cx="41040" cy="1419480"/>
          </a:xfrm>
          <a:custGeom>
            <a:avLst/>
            <a:gdLst/>
            <a:ahLst/>
            <a:rect l="0" t="0" r="r" b="b"/>
            <a:pathLst>
              <a:path w="114" h="3943">
                <a:moveTo>
                  <a:pt x="0" y="0"/>
                </a:moveTo>
                <a:lnTo>
                  <a:pt x="0" y="3943"/>
                </a:lnTo>
                <a:lnTo>
                  <a:pt x="114" y="3943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971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5774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5814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5854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7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5895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6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5934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5975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6015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6055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6095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1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6135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6176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2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6216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6256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7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6296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6337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f7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6377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7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6417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6457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6497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6537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6577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77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6618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6658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a78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6698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6738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9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6778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6819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6859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6899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6939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b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6979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7020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c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7060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7100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7d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7140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7180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e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7220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7261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7f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7301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7341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0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7381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7421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81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7462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7502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82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7542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7582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83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7622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7662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4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7703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7743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7783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7823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7863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79041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7944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8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7984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8024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8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8064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8105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8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8145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8185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8225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8265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b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8305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8346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8c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8386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8426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d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8466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8506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e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85471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8587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8627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8f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86677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8707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0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8748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8787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8828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88686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892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8908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8948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9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89892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9029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4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9069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9109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95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9149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91900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396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9230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9270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297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93106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93506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93909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9430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9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9471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95115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95515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95918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96318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96721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97124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97524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9792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98330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98730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e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99133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99532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f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9993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100339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100738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101142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1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1015452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101944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2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102348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3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102747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3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103150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103554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103953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4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1043568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1047600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5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105159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105562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6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105962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106365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7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106768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107168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8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1075716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1079748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9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108374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108777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109177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1095804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b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1099836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110383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110786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1111860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11158920" y="3305160"/>
            <a:ext cx="40680" cy="1419480"/>
          </a:xfrm>
          <a:custGeom>
            <a:avLst/>
            <a:gdLst/>
            <a:ahLst/>
            <a:rect l="0" t="0" r="r" b="b"/>
            <a:pathLst>
              <a:path w="113" h="3943">
                <a:moveTo>
                  <a:pt x="0" y="0"/>
                </a:moveTo>
                <a:lnTo>
                  <a:pt x="0" y="3943"/>
                </a:lnTo>
                <a:lnTo>
                  <a:pt x="113" y="3943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11199240" y="3305160"/>
            <a:ext cx="40320" cy="1419480"/>
          </a:xfrm>
          <a:custGeom>
            <a:avLst/>
            <a:gdLst/>
            <a:ahLst/>
            <a:rect l="0" t="0" r="r" b="b"/>
            <a:pathLst>
              <a:path w="112" h="3943">
                <a:moveTo>
                  <a:pt x="0" y="0"/>
                </a:moveTo>
                <a:lnTo>
                  <a:pt x="0" y="3943"/>
                </a:lnTo>
                <a:lnTo>
                  <a:pt x="112" y="3943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3" name=""/>
          <p:cNvSpPr txBox="1"/>
          <p:nvPr/>
        </p:nvSpPr>
        <p:spPr>
          <a:xfrm>
            <a:off x="952560" y="3342600"/>
            <a:ext cx="474048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Practices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4" name=""/>
          <p:cNvSpPr txBox="1"/>
          <p:nvPr/>
        </p:nvSpPr>
        <p:spPr>
          <a:xfrm>
            <a:off x="952560" y="2139120"/>
            <a:ext cx="145296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50" spc="-1" strike="noStrike">
                <a:solidFill>
                  <a:srgbClr val="54aeff"/>
                </a:solidFill>
                <a:latin typeface="DejaVuSans"/>
                <a:ea typeface="DejaVuSans"/>
              </a:rPr>
              <a:t>PART THREE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5" name=""/>
          <p:cNvSpPr txBox="1"/>
          <p:nvPr/>
        </p:nvSpPr>
        <p:spPr>
          <a:xfrm>
            <a:off x="952560" y="3342600"/>
            <a:ext cx="4740480" cy="106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0" spc="-1" strike="noStrike">
                <a:solidFill>
                  <a:srgbClr val="000000"/>
                </a:solidFill>
                <a:latin typeface="DejaVuSans"/>
                <a:ea typeface="DejaVuSans"/>
              </a:rPr>
              <a:t>Practices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6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17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0" name=""/>
          <p:cNvSpPr txBox="1"/>
          <p:nvPr/>
        </p:nvSpPr>
        <p:spPr>
          <a:xfrm>
            <a:off x="952560" y="1219320"/>
            <a:ext cx="50907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GOVERNANCE WITHOUT FRICTION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1" name=""/>
          <p:cNvSpPr txBox="1"/>
          <p:nvPr/>
        </p:nvSpPr>
        <p:spPr>
          <a:xfrm>
            <a:off x="952560" y="1844280"/>
            <a:ext cx="843588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Make the </a:t>
            </a:r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right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 thing the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1257120" y="4162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3" name=""/>
          <p:cNvSpPr txBox="1"/>
          <p:nvPr/>
        </p:nvSpPr>
        <p:spPr>
          <a:xfrm>
            <a:off x="952560" y="2511000"/>
            <a:ext cx="383364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easy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 thing.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125712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5" name=""/>
          <p:cNvSpPr txBox="1"/>
          <p:nvPr/>
        </p:nvSpPr>
        <p:spPr>
          <a:xfrm>
            <a:off x="1485720" y="4038840"/>
            <a:ext cx="2114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Policies as code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1257120" y="52765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7" name=""/>
          <p:cNvSpPr txBox="1"/>
          <p:nvPr/>
        </p:nvSpPr>
        <p:spPr>
          <a:xfrm>
            <a:off x="1485720" y="4591080"/>
            <a:ext cx="27925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Defaults that protect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8" name=""/>
          <p:cNvSpPr txBox="1"/>
          <p:nvPr/>
        </p:nvSpPr>
        <p:spPr>
          <a:xfrm>
            <a:off x="1485720" y="5153040"/>
            <a:ext cx="42800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Telemetry that respects privacy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9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18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3" name=""/>
          <p:cNvSpPr txBox="1"/>
          <p:nvPr/>
        </p:nvSpPr>
        <p:spPr>
          <a:xfrm>
            <a:off x="952560" y="1219320"/>
            <a:ext cx="44431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EMPATHY IN THE WORKFLOW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4" name=""/>
          <p:cNvSpPr txBox="1"/>
          <p:nvPr/>
        </p:nvSpPr>
        <p:spPr>
          <a:xfrm>
            <a:off x="952560" y="1844280"/>
            <a:ext cx="676872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Design for the </a:t>
            </a:r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tired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1257120" y="4162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6" name=""/>
          <p:cNvSpPr txBox="1"/>
          <p:nvPr/>
        </p:nvSpPr>
        <p:spPr>
          <a:xfrm>
            <a:off x="952560" y="2511000"/>
            <a:ext cx="629028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developer at 4pm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125712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8" name=""/>
          <p:cNvSpPr txBox="1"/>
          <p:nvPr/>
        </p:nvSpPr>
        <p:spPr>
          <a:xfrm>
            <a:off x="1485720" y="4038840"/>
            <a:ext cx="2614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Clear failure modes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1257120" y="52765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0" name=""/>
          <p:cNvSpPr txBox="1"/>
          <p:nvPr/>
        </p:nvSpPr>
        <p:spPr>
          <a:xfrm>
            <a:off x="1485720" y="4591080"/>
            <a:ext cx="35013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Honest confidence signals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1" name=""/>
          <p:cNvSpPr txBox="1"/>
          <p:nvPr/>
        </p:nvSpPr>
        <p:spPr>
          <a:xfrm>
            <a:off x="1485720" y="5153040"/>
            <a:ext cx="32241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Always an escape hatch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2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19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6" name=""/>
          <p:cNvSpPr txBox="1"/>
          <p:nvPr/>
        </p:nvSpPr>
        <p:spPr>
          <a:xfrm>
            <a:off x="952560" y="1276560"/>
            <a:ext cx="36918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A PRACTICAL CHECKLIST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125712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8" name=""/>
          <p:cNvSpPr txBox="1"/>
          <p:nvPr/>
        </p:nvSpPr>
        <p:spPr>
          <a:xfrm>
            <a:off x="952560" y="1891800"/>
            <a:ext cx="53928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Before you ship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1257120" y="4105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0" name=""/>
          <p:cNvSpPr txBox="1"/>
          <p:nvPr/>
        </p:nvSpPr>
        <p:spPr>
          <a:xfrm>
            <a:off x="1485720" y="3419640"/>
            <a:ext cx="51516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Who is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accountable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when it's wrong?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1257120" y="4667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2" name=""/>
          <p:cNvSpPr txBox="1"/>
          <p:nvPr/>
        </p:nvSpPr>
        <p:spPr>
          <a:xfrm>
            <a:off x="1485720" y="3981600"/>
            <a:ext cx="55864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Can a user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see why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the model said that?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1257120" y="5219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4" name=""/>
          <p:cNvSpPr txBox="1"/>
          <p:nvPr/>
        </p:nvSpPr>
        <p:spPr>
          <a:xfrm>
            <a:off x="1485720" y="4543560"/>
            <a:ext cx="60433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Is there a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human override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on every action?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5" name=""/>
          <p:cNvSpPr txBox="1"/>
          <p:nvPr/>
        </p:nvSpPr>
        <p:spPr>
          <a:xfrm>
            <a:off x="1485720" y="5096160"/>
            <a:ext cx="61866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Are outcomes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measured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across user groups?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6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20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952560" y="943200"/>
            <a:ext cx="28796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MEASURING TRUST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952560" y="1558440"/>
            <a:ext cx="90882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What gets measured, gets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1257120" y="3876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3" name=""/>
          <p:cNvSpPr txBox="1"/>
          <p:nvPr/>
        </p:nvSpPr>
        <p:spPr>
          <a:xfrm>
            <a:off x="952560" y="2234520"/>
            <a:ext cx="252900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trusted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1257120" y="4438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5" name=""/>
          <p:cNvSpPr txBox="1"/>
          <p:nvPr/>
        </p:nvSpPr>
        <p:spPr>
          <a:xfrm>
            <a:off x="1485720" y="3753000"/>
            <a:ext cx="40593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Acceptance rate </a:t>
            </a:r>
            <a:r>
              <a:rPr b="1" lang="en-US" sz="2100" spc="-1" strike="noStrike">
                <a:solidFill>
                  <a:srgbClr val="ff6bcb"/>
                </a:solidFill>
                <a:latin typeface="DejaVuSans"/>
                <a:ea typeface="DejaVuSans"/>
              </a:rPr>
              <a:t>and</a:t>
            </a:r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 edit rate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>
            <a:off x="1257120" y="5000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7" name=""/>
          <p:cNvSpPr txBox="1"/>
          <p:nvPr/>
        </p:nvSpPr>
        <p:spPr>
          <a:xfrm>
            <a:off x="1485720" y="4314960"/>
            <a:ext cx="25930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Override frequency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>
            <a:off x="1257120" y="5562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9" name=""/>
          <p:cNvSpPr txBox="1"/>
          <p:nvPr/>
        </p:nvSpPr>
        <p:spPr>
          <a:xfrm>
            <a:off x="1485720" y="4876920"/>
            <a:ext cx="436536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Reported harms, time-to-resolve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0" name=""/>
          <p:cNvSpPr txBox="1"/>
          <p:nvPr/>
        </p:nvSpPr>
        <p:spPr>
          <a:xfrm>
            <a:off x="1485720" y="5438880"/>
            <a:ext cx="41094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ffffff"/>
                </a:solidFill>
                <a:latin typeface="DejaVuSans"/>
                <a:ea typeface="DejaVuSans"/>
              </a:rPr>
              <a:t>Outcome parity across cohorts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21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5" name=""/>
          <p:cNvSpPr txBox="1"/>
          <p:nvPr/>
        </p:nvSpPr>
        <p:spPr>
          <a:xfrm>
            <a:off x="952560" y="1514520"/>
            <a:ext cx="360792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THE DEVELOPER'S ROLE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6" name=""/>
          <p:cNvSpPr txBox="1"/>
          <p:nvPr/>
        </p:nvSpPr>
        <p:spPr>
          <a:xfrm>
            <a:off x="952560" y="2139480"/>
            <a:ext cx="5909040" cy="7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You are </a:t>
            </a:r>
            <a:r>
              <a:rPr b="1" lang="en-US" sz="4800" spc="-1" strike="noStrike">
                <a:solidFill>
                  <a:srgbClr val="4488cc"/>
                </a:solidFill>
                <a:latin typeface="DejaVuSans"/>
                <a:ea typeface="DejaVuSans"/>
              </a:rPr>
              <a:t>the loop</a:t>
            </a:r>
            <a:r>
              <a:rPr b="1" lang="en-US" sz="4800" spc="-1" strike="noStrike">
                <a:solidFill>
                  <a:srgbClr val="ffffff"/>
                </a:solidFill>
                <a:latin typeface="DejaVuSans"/>
                <a:ea typeface="DejaVuSans"/>
              </a:rPr>
              <a:t>.</a:t>
            </a:r>
            <a:endParaRPr b="0" lang="en-US" sz="4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7" name=""/>
          <p:cNvSpPr txBox="1"/>
          <p:nvPr/>
        </p:nvSpPr>
        <p:spPr>
          <a:xfrm>
            <a:off x="952560" y="3840120"/>
            <a:ext cx="870120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Every accepted suggestion is a vote.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8" name=""/>
          <p:cNvSpPr txBox="1"/>
          <p:nvPr/>
        </p:nvSpPr>
        <p:spPr>
          <a:xfrm>
            <a:off x="952560" y="4726080"/>
            <a:ext cx="6541560" cy="4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00" spc="-1" strike="noStrike">
                <a:solidFill>
                  <a:srgbClr val="ffffff"/>
                </a:solidFill>
                <a:latin typeface="DejaVuSans"/>
                <a:ea typeface="DejaVuSans"/>
              </a:rPr>
              <a:t>Every override is a teacher.</a:t>
            </a:r>
            <a:endParaRPr b="0" lang="en-US" sz="3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22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950760" y="1990080"/>
            <a:ext cx="10290600" cy="1716480"/>
          </a:xfrm>
          <a:custGeom>
            <a:avLst/>
            <a:gdLst/>
            <a:ahLst/>
            <a:rect l="0" t="0" r="r" b="b"/>
            <a:pathLst>
              <a:path w="28585" h="4768">
                <a:moveTo>
                  <a:pt x="0" y="0"/>
                </a:moveTo>
                <a:lnTo>
                  <a:pt x="28585" y="0"/>
                </a:lnTo>
                <a:lnTo>
                  <a:pt x="28585" y="4768"/>
                </a:lnTo>
                <a:lnTo>
                  <a:pt x="0" y="47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952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992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1032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1072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1113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1153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1193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1233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>
            <a:off x="1273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1314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1354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1394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>
            <a:off x="1434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1474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1514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1555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1595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1635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>
            <a:off x="1675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1715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1756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1796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1836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1876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1916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1956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1996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2037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2077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2117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2157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2198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2238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2278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2318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2358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>
            <a:off x="2399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2439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2479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2519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2559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2599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2639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2680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2720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2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2760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2800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2841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2881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2921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2961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3001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>
            <a:off x="3042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3081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3122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3162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3202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3242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3282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3323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3363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3403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3443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3483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3524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>
            <a:off x="3564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3604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3644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3684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3724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3765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b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3805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3845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3885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3925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3966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4006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4046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4086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4126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4167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4207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9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4247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4287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4327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4367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7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4408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4448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4488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4528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4568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4609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4649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4689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4729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4769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4809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4850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4890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4930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4970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5010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5051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5091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5131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5171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5211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5252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5292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5332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5372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5412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5452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5493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0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5533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5573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5613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5653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5694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5734080" y="1990440"/>
            <a:ext cx="41040" cy="1715040"/>
          </a:xfrm>
          <a:custGeom>
            <a:avLst/>
            <a:gdLst/>
            <a:ahLst/>
            <a:rect l="0" t="0" r="r" b="b"/>
            <a:pathLst>
              <a:path w="114" h="4764">
                <a:moveTo>
                  <a:pt x="0" y="0"/>
                </a:moveTo>
                <a:lnTo>
                  <a:pt x="0" y="4764"/>
                </a:lnTo>
                <a:lnTo>
                  <a:pt x="114" y="476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4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5774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5814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5854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6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5895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5934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d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5975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8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6015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6055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6095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a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6135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6176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6216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6256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6296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6337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6377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6417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6457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6497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6537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6577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6618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3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6658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6698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6738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6778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6819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6859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6899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6939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6979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7020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7060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7100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7140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7180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7220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d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7261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7301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7341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7381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7421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7462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7502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7542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7582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7622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7662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7703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5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7743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2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7783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7823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7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7863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7904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0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7944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7984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8024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8064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8105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8145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8185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8225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8265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8305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8346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8386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8426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1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8466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8506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8547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8587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8627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8667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8707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8748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8787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8828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8868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8908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8948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a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8989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9029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9069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9109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9149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9190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9230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9270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9310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9350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9390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9430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9471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9511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9551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6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9591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9631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9672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9712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9752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9792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9833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9873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9913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9953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9993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10033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10073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2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10114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10154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10194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10234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f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10274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10315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10355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10395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10435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10476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10515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10556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10596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10636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10676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10716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10757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10797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10837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10877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10917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10958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10998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11038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11078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11118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c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11158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11199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0" name=""/>
          <p:cNvSpPr txBox="1"/>
          <p:nvPr/>
        </p:nvSpPr>
        <p:spPr>
          <a:xfrm>
            <a:off x="952560" y="1963800"/>
            <a:ext cx="79272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Trust is the ultimate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952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992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1032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1072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1113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1153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1193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1233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1273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1314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1354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1394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1434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1474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1514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1555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1595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1635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1675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1715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1756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1796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1836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1876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1916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1956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1996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2037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2077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2117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2157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2198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2238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2278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2318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2358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2399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2439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2479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2519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2559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2599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2639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2680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2720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2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2760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2800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2841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2881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2921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2961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3001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3042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3081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3122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3162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3202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3242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3282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3323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3363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3403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3443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3483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3524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3564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3604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3644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3684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3724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3765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b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3805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3845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3885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3925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3966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4006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4046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4086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4126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4167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4207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9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4247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4287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4327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4367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7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4408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4448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4488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4528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4568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4609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4649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4689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4729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4769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4809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4850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4890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4930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4970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5010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5051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5091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>
            <a:off x="5131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>
            <a:off x="5171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5211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5252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5292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5332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>
            <a:off x="5372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5412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5452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5493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0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5533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5573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5613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5653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5694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5734080" y="1990440"/>
            <a:ext cx="41040" cy="1715040"/>
          </a:xfrm>
          <a:custGeom>
            <a:avLst/>
            <a:gdLst/>
            <a:ahLst/>
            <a:rect l="0" t="0" r="r" b="b"/>
            <a:pathLst>
              <a:path w="114" h="4764">
                <a:moveTo>
                  <a:pt x="0" y="0"/>
                </a:moveTo>
                <a:lnTo>
                  <a:pt x="0" y="4764"/>
                </a:lnTo>
                <a:lnTo>
                  <a:pt x="114" y="476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4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5774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5814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5854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6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5895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5934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d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5975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8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6015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6055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6095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a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6135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6176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6216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6256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6296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6337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6377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6417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>
            <a:off x="6457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6497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6537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6577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>
            <a:off x="6618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3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6658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6698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6738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6778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6819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6859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6899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6939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6979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7020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7060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7100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7140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7180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7220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d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7261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7301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7341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7381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7421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7462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7502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7542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7582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7622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7662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7703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5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7743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2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7783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7823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7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7863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79041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0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7944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7984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8024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8064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8105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8145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8185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8225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8265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8305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8346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8386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8426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1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8466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8506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85471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8587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8627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86677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8707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8748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8787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8828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88686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8908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8948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a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89892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9029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9069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9109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9149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91900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9230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9270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93106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93506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93909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9430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9471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95115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95515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6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95918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96318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96721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97124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97524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9792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98330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98730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99133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99532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9993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100339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100738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2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101142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1015452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101944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102348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f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102747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103150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103554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103953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1043568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1047600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105159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105562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105962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106365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106768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107168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1075716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1079748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108374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108777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109177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1095804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1099836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110383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110786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1111860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c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11158920" y="1990440"/>
            <a:ext cx="40680" cy="1715040"/>
          </a:xfrm>
          <a:custGeom>
            <a:avLst/>
            <a:gdLst/>
            <a:ahLst/>
            <a:rect l="0" t="0" r="r" b="b"/>
            <a:pathLst>
              <a:path w="113" h="4764">
                <a:moveTo>
                  <a:pt x="0" y="0"/>
                </a:moveTo>
                <a:lnTo>
                  <a:pt x="0" y="4764"/>
                </a:lnTo>
                <a:lnTo>
                  <a:pt x="113" y="476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11199240" y="1990440"/>
            <a:ext cx="40320" cy="1715040"/>
          </a:xfrm>
          <a:custGeom>
            <a:avLst/>
            <a:gdLst/>
            <a:ahLst/>
            <a:rect l="0" t="0" r="r" b="b"/>
            <a:pathLst>
              <a:path w="112" h="4764">
                <a:moveTo>
                  <a:pt x="0" y="0"/>
                </a:moveTo>
                <a:lnTo>
                  <a:pt x="0" y="4764"/>
                </a:lnTo>
                <a:lnTo>
                  <a:pt x="112" y="476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7" name=""/>
          <p:cNvSpPr txBox="1"/>
          <p:nvPr/>
        </p:nvSpPr>
        <p:spPr>
          <a:xfrm>
            <a:off x="952560" y="2716200"/>
            <a:ext cx="31068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feature.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8" name=""/>
          <p:cNvSpPr txBox="1"/>
          <p:nvPr/>
        </p:nvSpPr>
        <p:spPr>
          <a:xfrm>
            <a:off x="952560" y="1963800"/>
            <a:ext cx="79272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Trust is the ultimate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9" name=""/>
          <p:cNvSpPr txBox="1"/>
          <p:nvPr/>
        </p:nvSpPr>
        <p:spPr>
          <a:xfrm>
            <a:off x="952560" y="2716200"/>
            <a:ext cx="31068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feature.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0" name=""/>
          <p:cNvSpPr txBox="1"/>
          <p:nvPr/>
        </p:nvSpPr>
        <p:spPr>
          <a:xfrm>
            <a:off x="952560" y="4543560"/>
            <a:ext cx="512424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BUILD IT IN. SHIP IT ON PURPOSE.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1" name=""/>
          <p:cNvSpPr txBox="1"/>
          <p:nvPr/>
        </p:nvSpPr>
        <p:spPr>
          <a:xfrm>
            <a:off x="11710080" y="6426720"/>
            <a:ext cx="189720" cy="1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50" spc="-1" strike="noStrike">
                <a:solidFill>
                  <a:srgbClr val="ffffff"/>
                </a:solidFill>
                <a:latin typeface="Arial"/>
                <a:ea typeface="Arial"/>
              </a:rPr>
              <a:t>23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950760" y="2197440"/>
            <a:ext cx="10290600" cy="966600"/>
          </a:xfrm>
          <a:custGeom>
            <a:avLst/>
            <a:gdLst/>
            <a:ahLst/>
            <a:rect l="0" t="0" r="r" b="b"/>
            <a:pathLst>
              <a:path w="28585" h="2685">
                <a:moveTo>
                  <a:pt x="0" y="0"/>
                </a:moveTo>
                <a:lnTo>
                  <a:pt x="28585" y="0"/>
                </a:lnTo>
                <a:lnTo>
                  <a:pt x="28585" y="2685"/>
                </a:lnTo>
                <a:lnTo>
                  <a:pt x="0" y="26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952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992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1032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1072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1113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1153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1193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1233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1273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1314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1354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1394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1434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1474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1514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1555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1595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1635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1675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1715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1756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1796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1836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1876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1916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1956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1996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2037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2077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2117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2157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2198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2238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2278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2318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2358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2399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2439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2479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2519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2559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2599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2639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2680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2720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2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2760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2800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2841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2881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2921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2961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3001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3042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3081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3122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3162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3202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3242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3282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3323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3363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3403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3443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3483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3524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3564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3604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3644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3684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3724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3765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b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3805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3845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3885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3925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3966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4006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4046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4086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4126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4167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4207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9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4247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4287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4327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4367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7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4408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4448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4488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4528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4568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4609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4649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4689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4729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4769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4809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4850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4890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4930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4970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5010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5051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5091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5131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5171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5211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5252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5292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5332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5372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5412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5452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5493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0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5533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5573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5613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5653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5694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5734080" y="2199960"/>
            <a:ext cx="41040" cy="962640"/>
          </a:xfrm>
          <a:custGeom>
            <a:avLst/>
            <a:gdLst/>
            <a:ahLst/>
            <a:rect l="0" t="0" r="r" b="b"/>
            <a:pathLst>
              <a:path w="114" h="2674">
                <a:moveTo>
                  <a:pt x="0" y="0"/>
                </a:moveTo>
                <a:lnTo>
                  <a:pt x="0" y="2674"/>
                </a:lnTo>
                <a:lnTo>
                  <a:pt x="114" y="267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4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5774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5814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>
            <a:off x="5854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6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5895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5934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d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>
            <a:off x="5975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8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6015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6055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6095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a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6135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6176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6216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6256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6296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6337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6377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6417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6457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6497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6537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6577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6618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3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6658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6698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6738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6778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6819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6859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6899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6939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6979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7020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7060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7100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7140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7180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7220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d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7261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7301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7341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7381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7421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7462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7502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7542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7582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7622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7662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7703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5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7743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2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7783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7823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7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7863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7904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0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7944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7984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8024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8064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8105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8145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8185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8225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8265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8305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>
            <a:off x="8346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8386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8426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1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8466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8506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8547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8587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8627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8667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8707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8748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8787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8828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8868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8908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8948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a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8989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9029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9069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9109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9149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9190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9230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9270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9310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9350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9390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9430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9471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9511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9551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6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9591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9631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9672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9712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9752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9792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9833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9873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9913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9953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9993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10033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10073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2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10114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10154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10194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10234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f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10274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10315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10355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10395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10435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10476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10515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10556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10596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10636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10676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10716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10757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10797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10837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10877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10917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10958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10998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11038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11078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11118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c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11158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11199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952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e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992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d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1032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1072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1113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d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1153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1193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1233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1273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c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1314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1354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b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1394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1434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1474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1514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1555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1595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1635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1675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1715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1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1756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2a9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1796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1836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1876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4a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1916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1956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5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1996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7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2037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2077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7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2117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8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2157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2198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9a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2238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2278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2318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2358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ca5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2399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2439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2479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2519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4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2559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a3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2599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0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2639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3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2680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2720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2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2760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2800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a2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2841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2881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2921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5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2961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a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3001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3042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7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3081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3122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a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3162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9f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3202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3242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3282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9f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3323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c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3363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3403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d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3443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9e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3483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3524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f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3564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9d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3604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3644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3684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3724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c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3765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39b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3805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3845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3885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59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3925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3966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4006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7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4046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9a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4086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4126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4167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9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4207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9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4247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4287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4327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8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4367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97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4408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e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4448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4488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97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4528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4568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4609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1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4649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96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4689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4729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95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4769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4809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5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4850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5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4890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4930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4970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794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5010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8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5051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5091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5131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9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5171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5211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5252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92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5292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5332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d91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5372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5412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5452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f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5493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0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5533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5573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90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5613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5653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5694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5734080" y="2199960"/>
            <a:ext cx="41040" cy="962640"/>
          </a:xfrm>
          <a:custGeom>
            <a:avLst/>
            <a:gdLst/>
            <a:ahLst/>
            <a:rect l="0" t="0" r="r" b="b"/>
            <a:pathLst>
              <a:path w="114" h="2674">
                <a:moveTo>
                  <a:pt x="0" y="0"/>
                </a:moveTo>
                <a:lnTo>
                  <a:pt x="0" y="2674"/>
                </a:lnTo>
                <a:lnTo>
                  <a:pt x="114" y="2674"/>
                </a:lnTo>
                <a:lnTo>
                  <a:pt x="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a48f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5774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5814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5854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6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5895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e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5934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8d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5975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8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6015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6055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8d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6095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a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6135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6176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8c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6216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6256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6296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6337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e8b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6377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6417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6457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6497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18a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6537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6577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6618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3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6658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6698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6738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8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6778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6819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6859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6899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6939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7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6979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7020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7060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a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7100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86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7140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7180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7220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d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7261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5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7301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7341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84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7381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7421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8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7462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7502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7542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7582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83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7622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7662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7703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582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7743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2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7783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7823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7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7863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1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79041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880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7944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7984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8024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a80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8064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8105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8145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8185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7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8225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8265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8305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7e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8346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e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8386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8426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1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8466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8506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7d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85471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3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8587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8627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7c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86677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8707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8748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8787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7b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8828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88686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8908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7a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8948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a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89892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9029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9069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9109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79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9149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91900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9230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9270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78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93106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93506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93909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9430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9471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95115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76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95515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6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95918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96318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96721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97124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5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97524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9792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98330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98730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4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99133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99532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a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9993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100339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3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100738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72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101142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1015452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101944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7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102348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ef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4" name=""/>
          <p:cNvSpPr/>
          <p:nvPr/>
        </p:nvSpPr>
        <p:spPr>
          <a:xfrm>
            <a:off x="102747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5" name=""/>
          <p:cNvSpPr/>
          <p:nvPr/>
        </p:nvSpPr>
        <p:spPr>
          <a:xfrm>
            <a:off x="103150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71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6" name=""/>
          <p:cNvSpPr/>
          <p:nvPr/>
        </p:nvSpPr>
        <p:spPr>
          <a:xfrm>
            <a:off x="103554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1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7" name=""/>
          <p:cNvSpPr/>
          <p:nvPr/>
        </p:nvSpPr>
        <p:spPr>
          <a:xfrm>
            <a:off x="103953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8" name=""/>
          <p:cNvSpPr/>
          <p:nvPr/>
        </p:nvSpPr>
        <p:spPr>
          <a:xfrm>
            <a:off x="1043568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1047600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70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105159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105562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105962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3" name=""/>
          <p:cNvSpPr/>
          <p:nvPr/>
        </p:nvSpPr>
        <p:spPr>
          <a:xfrm>
            <a:off x="106365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f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4" name=""/>
          <p:cNvSpPr/>
          <p:nvPr/>
        </p:nvSpPr>
        <p:spPr>
          <a:xfrm>
            <a:off x="106768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6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5" name=""/>
          <p:cNvSpPr/>
          <p:nvPr/>
        </p:nvSpPr>
        <p:spPr>
          <a:xfrm>
            <a:off x="107168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7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>
            <a:off x="1075716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7" name=""/>
          <p:cNvSpPr/>
          <p:nvPr/>
        </p:nvSpPr>
        <p:spPr>
          <a:xfrm>
            <a:off x="1079748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6e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8" name=""/>
          <p:cNvSpPr/>
          <p:nvPr/>
        </p:nvSpPr>
        <p:spPr>
          <a:xfrm>
            <a:off x="108374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9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9" name=""/>
          <p:cNvSpPr/>
          <p:nvPr/>
        </p:nvSpPr>
        <p:spPr>
          <a:xfrm>
            <a:off x="108777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109177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a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1095804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6d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1099836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110383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>
            <a:off x="110786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6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>
            <a:off x="1111860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c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6" name=""/>
          <p:cNvSpPr/>
          <p:nvPr/>
        </p:nvSpPr>
        <p:spPr>
          <a:xfrm>
            <a:off x="11158920" y="2199960"/>
            <a:ext cx="40680" cy="962640"/>
          </a:xfrm>
          <a:custGeom>
            <a:avLst/>
            <a:gdLst/>
            <a:ahLst/>
            <a:rect l="0" t="0" r="r" b="b"/>
            <a:pathLst>
              <a:path w="113" h="2674">
                <a:moveTo>
                  <a:pt x="0" y="0"/>
                </a:moveTo>
                <a:lnTo>
                  <a:pt x="0" y="2674"/>
                </a:lnTo>
                <a:lnTo>
                  <a:pt x="113" y="2674"/>
                </a:lnTo>
                <a:lnTo>
                  <a:pt x="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e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7" name=""/>
          <p:cNvSpPr/>
          <p:nvPr/>
        </p:nvSpPr>
        <p:spPr>
          <a:xfrm>
            <a:off x="11199240" y="2199960"/>
            <a:ext cx="40320" cy="962640"/>
          </a:xfrm>
          <a:custGeom>
            <a:avLst/>
            <a:gdLst/>
            <a:ahLst/>
            <a:rect l="0" t="0" r="r" b="b"/>
            <a:pathLst>
              <a:path w="112" h="2674">
                <a:moveTo>
                  <a:pt x="0" y="0"/>
                </a:moveTo>
                <a:lnTo>
                  <a:pt x="0" y="2674"/>
                </a:lnTo>
                <a:lnTo>
                  <a:pt x="112" y="2674"/>
                </a:lnTo>
                <a:lnTo>
                  <a:pt x="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8" name=""/>
          <p:cNvSpPr txBox="1"/>
          <p:nvPr/>
        </p:nvSpPr>
        <p:spPr>
          <a:xfrm>
            <a:off x="952560" y="2173320"/>
            <a:ext cx="42678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Thank you.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9" name=""/>
          <p:cNvSpPr txBox="1"/>
          <p:nvPr/>
        </p:nvSpPr>
        <p:spPr>
          <a:xfrm>
            <a:off x="952560" y="2173320"/>
            <a:ext cx="42678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5400" spc="-1" strike="noStrike">
                <a:solidFill>
                  <a:srgbClr val="000000"/>
                </a:solidFill>
                <a:latin typeface="DejaVuSans"/>
                <a:ea typeface="DejaVuSans"/>
              </a:rPr>
              <a:t>Thank you.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0" name=""/>
          <p:cNvSpPr txBox="1"/>
          <p:nvPr/>
        </p:nvSpPr>
        <p:spPr>
          <a:xfrm>
            <a:off x="952560" y="4000680"/>
            <a:ext cx="826848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QUESTIONS, CHALLENGES, AND COUNTER-ARGUMENTS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1" name=""/>
          <p:cNvSpPr txBox="1"/>
          <p:nvPr/>
        </p:nvSpPr>
        <p:spPr>
          <a:xfrm>
            <a:off x="952560" y="4334040"/>
            <a:ext cx="2500200" cy="3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54aeff"/>
                </a:solidFill>
                <a:latin typeface="DejaVuSans"/>
                <a:ea typeface="DejaVuSans"/>
              </a:rPr>
              <a:t>VERY WELCOME.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